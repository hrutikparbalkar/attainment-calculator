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ourier Prime Bold" panose="020B0604020202020204" charset="0"/>
      <p:regular r:id="rId14"/>
    </p:embeddedFont>
    <p:embeddedFont>
      <p:font typeface="Oswald Bold" panose="020B0604020202020204" charset="0"/>
      <p:regular r:id="rId15"/>
    </p:embeddedFont>
    <p:embeddedFont>
      <p:font typeface="Poppins Ultra-Bold" panose="020B0604020202020204" charset="0"/>
      <p:regular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67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svg"/><Relationship Id="rId7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4.svg"/><Relationship Id="rId10" Type="http://schemas.openxmlformats.org/officeDocument/2006/relationships/image" Target="../media/image19.jpe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8.svg"/><Relationship Id="rId7" Type="http://schemas.openxmlformats.org/officeDocument/2006/relationships/image" Target="../media/image2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81513" y="646534"/>
            <a:ext cx="9924975" cy="8993932"/>
            <a:chOff x="0" y="0"/>
            <a:chExt cx="13233300" cy="11991909"/>
          </a:xfrm>
        </p:grpSpPr>
        <p:sp>
          <p:nvSpPr>
            <p:cNvPr id="4" name="TextBox 4"/>
            <p:cNvSpPr txBox="1"/>
            <p:nvPr/>
          </p:nvSpPr>
          <p:spPr>
            <a:xfrm>
              <a:off x="0" y="-200025"/>
              <a:ext cx="13233300" cy="77232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MINI PROJECT ON</a:t>
              </a:r>
            </a:p>
            <a:p>
              <a:pPr algn="ctr">
                <a:lnSpc>
                  <a:spcPts val="4800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Attainment calculating software</a:t>
              </a:r>
            </a:p>
            <a:p>
              <a:pPr algn="ctr">
                <a:lnSpc>
                  <a:spcPts val="4479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By</a:t>
              </a:r>
            </a:p>
            <a:p>
              <a:pPr algn="ctr">
                <a:lnSpc>
                  <a:spcPts val="4479"/>
                </a:lnSpc>
              </a:pPr>
              <a:r>
                <a:rPr lang="en-US" sz="2600">
                  <a:solidFill>
                    <a:srgbClr val="004AAD"/>
                  </a:solidFill>
                  <a:latin typeface="Times New Roman Bold"/>
                </a:rPr>
                <a:t> Sahil Shaikh</a:t>
              </a:r>
            </a:p>
            <a:p>
              <a:pPr algn="ctr">
                <a:lnSpc>
                  <a:spcPts val="4479"/>
                </a:lnSpc>
              </a:pPr>
              <a:r>
                <a:rPr lang="en-US" sz="2600">
                  <a:solidFill>
                    <a:srgbClr val="004AAD"/>
                  </a:solidFill>
                  <a:latin typeface="Times New Roman Bold"/>
                </a:rPr>
                <a:t> Suryoday Kumar</a:t>
              </a:r>
            </a:p>
            <a:p>
              <a:pPr algn="ctr">
                <a:lnSpc>
                  <a:spcPts val="4479"/>
                </a:lnSpc>
              </a:pPr>
              <a:r>
                <a:rPr lang="en-US" sz="2600">
                  <a:solidFill>
                    <a:srgbClr val="004AAD"/>
                  </a:solidFill>
                  <a:latin typeface="Times New Roman Bold"/>
                </a:rPr>
                <a:t> Zeeshan Shaikh</a:t>
              </a:r>
            </a:p>
            <a:p>
              <a:pPr algn="ctr">
                <a:lnSpc>
                  <a:spcPts val="4479"/>
                </a:lnSpc>
              </a:pPr>
              <a:r>
                <a:rPr lang="en-US" sz="2600">
                  <a:solidFill>
                    <a:srgbClr val="004AAD"/>
                  </a:solidFill>
                  <a:latin typeface="Times New Roman Bold"/>
                </a:rPr>
                <a:t> Hrutik Parbalkar </a:t>
              </a:r>
            </a:p>
            <a:p>
              <a:pPr algn="ctr">
                <a:lnSpc>
                  <a:spcPts val="4479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under the guidance of</a:t>
              </a:r>
            </a:p>
            <a:p>
              <a:pPr algn="ctr">
                <a:lnSpc>
                  <a:spcPts val="4800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Mrs. Ekta Ukey</a:t>
              </a:r>
            </a:p>
            <a:p>
              <a:pPr algn="ctr">
                <a:lnSpc>
                  <a:spcPts val="4800"/>
                </a:lnSpc>
              </a:pPr>
              <a:r>
                <a:rPr lang="en-US" sz="3000">
                  <a:solidFill>
                    <a:srgbClr val="004AAD"/>
                  </a:solidFill>
                  <a:latin typeface="Times New Roman Bold"/>
                </a:rPr>
                <a:t>Department of Computer Engineering</a:t>
              </a:r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5645913" y="7726417"/>
              <a:ext cx="1941476" cy="2019135"/>
              <a:chOff x="0" y="0"/>
              <a:chExt cx="1941476" cy="201913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41449" cy="2019173"/>
              </a:xfrm>
              <a:custGeom>
                <a:avLst/>
                <a:gdLst/>
                <a:ahLst/>
                <a:cxnLst/>
                <a:rect l="l" t="t" r="r" b="b"/>
                <a:pathLst>
                  <a:path w="1941449" h="2019173">
                    <a:moveTo>
                      <a:pt x="0" y="0"/>
                    </a:moveTo>
                    <a:lnTo>
                      <a:pt x="1941449" y="0"/>
                    </a:lnTo>
                    <a:lnTo>
                      <a:pt x="1941449" y="2019173"/>
                    </a:lnTo>
                    <a:lnTo>
                      <a:pt x="0" y="20191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r="-1" b="1"/>
                </a:stretch>
              </a:blipFill>
            </p:spPr>
          </p:sp>
        </p:grpSp>
        <p:sp>
          <p:nvSpPr>
            <p:cNvPr id="7" name="TextBox 7"/>
            <p:cNvSpPr txBox="1"/>
            <p:nvPr/>
          </p:nvSpPr>
          <p:spPr>
            <a:xfrm>
              <a:off x="278161" y="9799031"/>
              <a:ext cx="12676981" cy="21928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59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Pillai HOC College of Engineering and Technology, Rasayani</a:t>
              </a:r>
            </a:p>
            <a:p>
              <a:pPr algn="ctr">
                <a:lnSpc>
                  <a:spcPts val="4359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University of Mumbai, Mumbai</a:t>
              </a:r>
            </a:p>
            <a:p>
              <a:pPr algn="ctr">
                <a:lnSpc>
                  <a:spcPts val="4359"/>
                </a:lnSpc>
              </a:pPr>
              <a:r>
                <a:rPr lang="en-US" sz="2799">
                  <a:solidFill>
                    <a:srgbClr val="004AAD"/>
                  </a:solidFill>
                  <a:latin typeface="Times New Roman Bold"/>
                </a:rPr>
                <a:t>A.Y. 2023-24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14425"/>
            <a:ext cx="5251100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CONTENTS</a:t>
            </a:r>
          </a:p>
        </p:txBody>
      </p:sp>
      <p:sp>
        <p:nvSpPr>
          <p:cNvPr id="3" name="Freeform 3"/>
          <p:cNvSpPr/>
          <p:nvPr/>
        </p:nvSpPr>
        <p:spPr>
          <a:xfrm rot="-1625759">
            <a:off x="8776971" y="-4731697"/>
            <a:ext cx="11643998" cy="9463395"/>
          </a:xfrm>
          <a:custGeom>
            <a:avLst/>
            <a:gdLst/>
            <a:ahLst/>
            <a:cxnLst/>
            <a:rect l="l" t="t" r="r" b="b"/>
            <a:pathLst>
              <a:path w="11643998" h="9463395">
                <a:moveTo>
                  <a:pt x="0" y="0"/>
                </a:moveTo>
                <a:lnTo>
                  <a:pt x="11643998" y="0"/>
                </a:lnTo>
                <a:lnTo>
                  <a:pt x="11643998" y="9463394"/>
                </a:lnTo>
                <a:lnTo>
                  <a:pt x="0" y="9463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13983" y="4168613"/>
            <a:ext cx="14580532" cy="2514364"/>
            <a:chOff x="0" y="0"/>
            <a:chExt cx="19440709" cy="3352485"/>
          </a:xfrm>
        </p:grpSpPr>
        <p:sp>
          <p:nvSpPr>
            <p:cNvPr id="5" name="TextBox 5"/>
            <p:cNvSpPr txBox="1"/>
            <p:nvPr/>
          </p:nvSpPr>
          <p:spPr>
            <a:xfrm>
              <a:off x="0" y="-180975"/>
              <a:ext cx="10661055" cy="3533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1. Introduction</a:t>
              </a:r>
            </a:p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2. Literature review</a:t>
              </a:r>
            </a:p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3. Limitations of existing system</a:t>
              </a:r>
              <a:r>
                <a:rPr lang="en-US" sz="3000">
                  <a:solidFill>
                    <a:srgbClr val="4A44BD"/>
                  </a:solidFill>
                  <a:latin typeface="Courier Prime Bold"/>
                </a:rPr>
                <a:t>  </a:t>
              </a:r>
            </a:p>
            <a:p>
              <a:pPr algn="just">
                <a:lnSpc>
                  <a:spcPts val="5400"/>
                </a:lnSpc>
              </a:pPr>
              <a:r>
                <a:rPr lang="en-US" sz="3000">
                  <a:solidFill>
                    <a:srgbClr val="231F20"/>
                  </a:solidFill>
                  <a:latin typeface="Courier Prime Bold"/>
                </a:rPr>
                <a:t>4. Problem Definition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953155" y="-180975"/>
              <a:ext cx="8487555" cy="35334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5. System Architecture</a:t>
              </a:r>
            </a:p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6. Results</a:t>
              </a:r>
            </a:p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7. Conclusion</a:t>
              </a:r>
            </a:p>
            <a:p>
              <a:pPr algn="l">
                <a:lnSpc>
                  <a:spcPts val="5400"/>
                </a:lnSpc>
              </a:pPr>
              <a:r>
                <a:rPr lang="en-US" sz="3000">
                  <a:solidFill>
                    <a:srgbClr val="000000"/>
                  </a:solidFill>
                  <a:latin typeface="Courier Prime Bold"/>
                </a:rPr>
                <a:t>8. References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21900" y="9404862"/>
            <a:ext cx="4687320" cy="4687320"/>
          </a:xfrm>
          <a:custGeom>
            <a:avLst/>
            <a:gdLst/>
            <a:ahLst/>
            <a:cxnLst/>
            <a:rect l="l" t="t" r="r" b="b"/>
            <a:pathLst>
              <a:path w="4687320" h="4687320">
                <a:moveTo>
                  <a:pt x="0" y="0"/>
                </a:moveTo>
                <a:lnTo>
                  <a:pt x="4687319" y="0"/>
                </a:lnTo>
                <a:lnTo>
                  <a:pt x="4687319" y="4687320"/>
                </a:lnTo>
                <a:lnTo>
                  <a:pt x="0" y="4687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-904968" y="8918951"/>
            <a:ext cx="2649263" cy="264926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4AAD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500165" y="-6671388"/>
            <a:ext cx="34134269" cy="19964410"/>
            <a:chOff x="0" y="0"/>
            <a:chExt cx="45512359" cy="26619213"/>
          </a:xfrm>
        </p:grpSpPr>
        <p:sp>
          <p:nvSpPr>
            <p:cNvPr id="3" name="Freeform 3"/>
            <p:cNvSpPr/>
            <p:nvPr/>
          </p:nvSpPr>
          <p:spPr>
            <a:xfrm rot="-2085749">
              <a:off x="3746036" y="3746036"/>
              <a:ext cx="19127140" cy="19127140"/>
            </a:xfrm>
            <a:custGeom>
              <a:avLst/>
              <a:gdLst/>
              <a:ahLst/>
              <a:cxnLst/>
              <a:rect l="l" t="t" r="r" b="b"/>
              <a:pathLst>
                <a:path w="19127140" h="19127140">
                  <a:moveTo>
                    <a:pt x="0" y="0"/>
                  </a:moveTo>
                  <a:lnTo>
                    <a:pt x="19127141" y="0"/>
                  </a:lnTo>
                  <a:lnTo>
                    <a:pt x="19127141" y="19127141"/>
                  </a:lnTo>
                  <a:lnTo>
                    <a:pt x="0" y="19127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799293">
              <a:off x="29847724" y="5132265"/>
              <a:ext cx="11739657" cy="18849836"/>
            </a:xfrm>
            <a:custGeom>
              <a:avLst/>
              <a:gdLst/>
              <a:ahLst/>
              <a:cxnLst/>
              <a:rect l="l" t="t" r="r" b="b"/>
              <a:pathLst>
                <a:path w="11739657" h="18849836">
                  <a:moveTo>
                    <a:pt x="0" y="0"/>
                  </a:moveTo>
                  <a:lnTo>
                    <a:pt x="11739657" y="0"/>
                  </a:lnTo>
                  <a:lnTo>
                    <a:pt x="11739657" y="18849836"/>
                  </a:lnTo>
                  <a:lnTo>
                    <a:pt x="0" y="188498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2767027"/>
            <a:ext cx="13611069" cy="4695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483" lvl="1" indent="-323742" algn="just">
              <a:lnSpc>
                <a:spcPts val="4199"/>
              </a:lnSpc>
              <a:buFont typeface="Arial"/>
              <a:buChar char="•"/>
            </a:pPr>
            <a:r>
              <a:rPr lang="en-US" sz="2998">
                <a:solidFill>
                  <a:srgbClr val="000000"/>
                </a:solidFill>
                <a:latin typeface="Courier Prime Bold"/>
              </a:rPr>
              <a:t>Student Attainment Calculation Software is a cutting edge tool that simplifies the assessment of student performance in educational institutions.</a:t>
            </a:r>
          </a:p>
          <a:p>
            <a:pPr algn="just">
              <a:lnSpc>
                <a:spcPts val="4199"/>
              </a:lnSpc>
            </a:pPr>
            <a:endParaRPr lang="en-US" sz="2998">
              <a:solidFill>
                <a:srgbClr val="000000"/>
              </a:solidFill>
              <a:latin typeface="Courier Prime Bold"/>
            </a:endParaRPr>
          </a:p>
          <a:p>
            <a:pPr marL="647483" lvl="1" indent="-323742" algn="just">
              <a:lnSpc>
                <a:spcPts val="4199"/>
              </a:lnSpc>
              <a:buFont typeface="Arial"/>
              <a:buChar char="•"/>
            </a:pPr>
            <a:r>
              <a:rPr lang="en-US" sz="2998">
                <a:solidFill>
                  <a:srgbClr val="000000"/>
                </a:solidFill>
                <a:latin typeface="Courier Prime Bold"/>
              </a:rPr>
              <a:t>With advanced data analysis and user-friendly features, it empowers educators to make informed decisions, enhance academic outcomes, and promote excellence in education.</a:t>
            </a:r>
          </a:p>
          <a:p>
            <a:pPr marL="685685" lvl="2" indent="-228562" algn="just">
              <a:lnSpc>
                <a:spcPts val="4199"/>
              </a:lnSpc>
            </a:pPr>
            <a:endParaRPr lang="en-US" sz="2998">
              <a:solidFill>
                <a:srgbClr val="000000"/>
              </a:solidFill>
              <a:latin typeface="Courier Prime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1114425"/>
            <a:ext cx="525110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 dirty="0">
                <a:solidFill>
                  <a:srgbClr val="004AAD"/>
                </a:solidFill>
                <a:latin typeface="Oswald Bold"/>
              </a:rPr>
              <a:t> 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16974" y="-6069756"/>
            <a:ext cx="30559598" cy="22733563"/>
            <a:chOff x="0" y="0"/>
            <a:chExt cx="40746131" cy="30311417"/>
          </a:xfrm>
        </p:grpSpPr>
        <p:sp>
          <p:nvSpPr>
            <p:cNvPr id="3" name="Freeform 3"/>
            <p:cNvSpPr/>
            <p:nvPr/>
          </p:nvSpPr>
          <p:spPr>
            <a:xfrm rot="4408728">
              <a:off x="16988366" y="2574645"/>
              <a:ext cx="21183120" cy="21183120"/>
            </a:xfrm>
            <a:custGeom>
              <a:avLst/>
              <a:gdLst/>
              <a:ahLst/>
              <a:cxnLst/>
              <a:rect l="l" t="t" r="r" b="b"/>
              <a:pathLst>
                <a:path w="21183120" h="21183120">
                  <a:moveTo>
                    <a:pt x="0" y="0"/>
                  </a:moveTo>
                  <a:lnTo>
                    <a:pt x="21183120" y="0"/>
                  </a:lnTo>
                  <a:lnTo>
                    <a:pt x="21183120" y="21183120"/>
                  </a:lnTo>
                  <a:lnTo>
                    <a:pt x="0" y="21183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148401" flipH="1">
              <a:off x="28286233" y="8606070"/>
              <a:ext cx="8972541" cy="7292229"/>
            </a:xfrm>
            <a:custGeom>
              <a:avLst/>
              <a:gdLst/>
              <a:ahLst/>
              <a:cxnLst/>
              <a:rect l="l" t="t" r="r" b="b"/>
              <a:pathLst>
                <a:path w="8972541" h="7292229">
                  <a:moveTo>
                    <a:pt x="8972541" y="0"/>
                  </a:moveTo>
                  <a:lnTo>
                    <a:pt x="0" y="0"/>
                  </a:lnTo>
                  <a:lnTo>
                    <a:pt x="0" y="7292229"/>
                  </a:lnTo>
                  <a:lnTo>
                    <a:pt x="8972541" y="7292229"/>
                  </a:lnTo>
                  <a:lnTo>
                    <a:pt x="8972541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1082301">
              <a:off x="1308308" y="17143850"/>
              <a:ext cx="15905182" cy="10974724"/>
            </a:xfrm>
            <a:custGeom>
              <a:avLst/>
              <a:gdLst/>
              <a:ahLst/>
              <a:cxnLst/>
              <a:rect l="l" t="t" r="r" b="b"/>
              <a:pathLst>
                <a:path w="15905182" h="10974724">
                  <a:moveTo>
                    <a:pt x="0" y="0"/>
                  </a:moveTo>
                  <a:lnTo>
                    <a:pt x="15905181" y="0"/>
                  </a:lnTo>
                  <a:lnTo>
                    <a:pt x="15905181" y="10974724"/>
                  </a:lnTo>
                  <a:lnTo>
                    <a:pt x="0" y="10974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114425"/>
            <a:ext cx="7086837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LITERATURE REVIEW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552798" y="3561405"/>
            <a:ext cx="7086837" cy="3164190"/>
            <a:chOff x="0" y="0"/>
            <a:chExt cx="9449116" cy="4218920"/>
          </a:xfrm>
        </p:grpSpPr>
        <p:sp>
          <p:nvSpPr>
            <p:cNvPr id="8" name="TextBox 8"/>
            <p:cNvSpPr txBox="1"/>
            <p:nvPr/>
          </p:nvSpPr>
          <p:spPr>
            <a:xfrm>
              <a:off x="0" y="-66675"/>
              <a:ext cx="9449116" cy="676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E2E2E"/>
                  </a:solidFill>
                  <a:latin typeface="Courier Prime Bold"/>
                </a:rPr>
                <a:t>User Friendly Interface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36310"/>
              <a:ext cx="9449116" cy="676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E2E2E"/>
                  </a:solidFill>
                  <a:latin typeface="Courier Prime Bold"/>
                </a:rPr>
                <a:t>Excel sheet access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339530"/>
              <a:ext cx="9449116" cy="676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E2E2E"/>
                  </a:solidFill>
                  <a:latin typeface="Courier Prime Bold"/>
                </a:rPr>
                <a:t>Usability and Flexibility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3542750"/>
              <a:ext cx="9449116" cy="6761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2E2E2E"/>
                  </a:solidFill>
                  <a:latin typeface="Courier Prime Bold"/>
                </a:rPr>
                <a:t>Customization Options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84128" y="-14237883"/>
            <a:ext cx="25565589" cy="29932069"/>
            <a:chOff x="0" y="0"/>
            <a:chExt cx="34087452" cy="39909425"/>
          </a:xfrm>
        </p:grpSpPr>
        <p:sp>
          <p:nvSpPr>
            <p:cNvPr id="3" name="Freeform 3"/>
            <p:cNvSpPr/>
            <p:nvPr/>
          </p:nvSpPr>
          <p:spPr>
            <a:xfrm rot="-1930669">
              <a:off x="4683779" y="4683779"/>
              <a:ext cx="24719895" cy="24719895"/>
            </a:xfrm>
            <a:custGeom>
              <a:avLst/>
              <a:gdLst/>
              <a:ahLst/>
              <a:cxnLst/>
              <a:rect l="l" t="t" r="r" b="b"/>
              <a:pathLst>
                <a:path w="24719895" h="24719895">
                  <a:moveTo>
                    <a:pt x="0" y="0"/>
                  </a:moveTo>
                  <a:lnTo>
                    <a:pt x="24719894" y="0"/>
                  </a:lnTo>
                  <a:lnTo>
                    <a:pt x="24719894" y="24719894"/>
                  </a:lnTo>
                  <a:lnTo>
                    <a:pt x="0" y="24719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5242519" flipH="1">
              <a:off x="13922812" y="29970883"/>
              <a:ext cx="10750788" cy="8737459"/>
            </a:xfrm>
            <a:custGeom>
              <a:avLst/>
              <a:gdLst/>
              <a:ahLst/>
              <a:cxnLst/>
              <a:rect l="l" t="t" r="r" b="b"/>
              <a:pathLst>
                <a:path w="10750788" h="8737459">
                  <a:moveTo>
                    <a:pt x="10750788" y="0"/>
                  </a:moveTo>
                  <a:lnTo>
                    <a:pt x="0" y="0"/>
                  </a:lnTo>
                  <a:lnTo>
                    <a:pt x="0" y="8737458"/>
                  </a:lnTo>
                  <a:lnTo>
                    <a:pt x="10750788" y="8737458"/>
                  </a:lnTo>
                  <a:lnTo>
                    <a:pt x="10750788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1114425"/>
            <a:ext cx="11524434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LIMITATIONS OF EXISTING SYSTEM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822369" y="3488286"/>
            <a:ext cx="10563181" cy="3310427"/>
            <a:chOff x="0" y="0"/>
            <a:chExt cx="14084241" cy="4413903"/>
          </a:xfrm>
        </p:grpSpPr>
        <p:sp>
          <p:nvSpPr>
            <p:cNvPr id="7" name="TextBox 7"/>
            <p:cNvSpPr txBox="1"/>
            <p:nvPr/>
          </p:nvSpPr>
          <p:spPr>
            <a:xfrm>
              <a:off x="0" y="-57150"/>
              <a:ext cx="9958024" cy="665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94"/>
                </a:lnSpc>
                <a:buFont typeface="Arial"/>
                <a:buChar char="•"/>
              </a:pPr>
              <a:r>
                <a:rPr lang="en-US" sz="2996">
                  <a:solidFill>
                    <a:srgbClr val="2E2E2E"/>
                  </a:solidFill>
                  <a:latin typeface="Courier Prime Bold"/>
                </a:rPr>
                <a:t>Limited Usability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211076"/>
              <a:ext cx="11054340" cy="665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94"/>
                </a:lnSpc>
                <a:buFont typeface="Arial"/>
                <a:buChar char="•"/>
              </a:pPr>
              <a:r>
                <a:rPr lang="en-US" sz="2996">
                  <a:solidFill>
                    <a:srgbClr val="2E2E2E"/>
                  </a:solidFill>
                  <a:latin typeface="Courier Prime Bold"/>
                </a:rPr>
                <a:t>Inflexibility in Data Integration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479536"/>
              <a:ext cx="14084241" cy="665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94"/>
                </a:lnSpc>
                <a:buFont typeface="Arial"/>
                <a:buChar char="•"/>
              </a:pPr>
              <a:r>
                <a:rPr lang="en-US" sz="2996">
                  <a:solidFill>
                    <a:srgbClr val="2E2E2E"/>
                  </a:solidFill>
                  <a:latin typeface="Courier Prime Bold"/>
                </a:rPr>
                <a:t>Ineffective in Diverse Educational Settings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747997"/>
              <a:ext cx="9958024" cy="6659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94"/>
                </a:lnSpc>
                <a:buFont typeface="Arial"/>
                <a:buChar char="•"/>
              </a:pPr>
              <a:r>
                <a:rPr lang="en-US" sz="2996">
                  <a:solidFill>
                    <a:srgbClr val="2E2E2E"/>
                  </a:solidFill>
                  <a:latin typeface="Courier Prime Bold"/>
                </a:rPr>
                <a:t>Inefficiency in Data 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690037" y="-6161604"/>
            <a:ext cx="34655353" cy="24767945"/>
            <a:chOff x="0" y="0"/>
            <a:chExt cx="46207137" cy="33023926"/>
          </a:xfrm>
        </p:grpSpPr>
        <p:sp>
          <p:nvSpPr>
            <p:cNvPr id="3" name="Freeform 3"/>
            <p:cNvSpPr/>
            <p:nvPr/>
          </p:nvSpPr>
          <p:spPr>
            <a:xfrm rot="6144593">
              <a:off x="20467212" y="6053829"/>
              <a:ext cx="23490271" cy="23490271"/>
            </a:xfrm>
            <a:custGeom>
              <a:avLst/>
              <a:gdLst/>
              <a:ahLst/>
              <a:cxnLst/>
              <a:rect l="l" t="t" r="r" b="b"/>
              <a:pathLst>
                <a:path w="23490271" h="23490271">
                  <a:moveTo>
                    <a:pt x="0" y="0"/>
                  </a:moveTo>
                  <a:lnTo>
                    <a:pt x="23490272" y="0"/>
                  </a:lnTo>
                  <a:lnTo>
                    <a:pt x="23490272" y="23490271"/>
                  </a:lnTo>
                  <a:lnTo>
                    <a:pt x="0" y="234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662819">
              <a:off x="22810190" y="3701316"/>
              <a:ext cx="17059931" cy="11771512"/>
            </a:xfrm>
            <a:custGeom>
              <a:avLst/>
              <a:gdLst/>
              <a:ahLst/>
              <a:cxnLst/>
              <a:rect l="l" t="t" r="r" b="b"/>
              <a:pathLst>
                <a:path w="17059931" h="11771512">
                  <a:moveTo>
                    <a:pt x="0" y="0"/>
                  </a:moveTo>
                  <a:lnTo>
                    <a:pt x="17059931" y="0"/>
                  </a:lnTo>
                  <a:lnTo>
                    <a:pt x="17059931" y="11771511"/>
                  </a:lnTo>
                  <a:lnTo>
                    <a:pt x="0" y="1177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8905814" flipH="1">
              <a:off x="2090588" y="17740092"/>
              <a:ext cx="15067540" cy="12245801"/>
            </a:xfrm>
            <a:custGeom>
              <a:avLst/>
              <a:gdLst/>
              <a:ahLst/>
              <a:cxnLst/>
              <a:rect l="l" t="t" r="r" b="b"/>
              <a:pathLst>
                <a:path w="15067540" h="12245801">
                  <a:moveTo>
                    <a:pt x="15067540" y="0"/>
                  </a:moveTo>
                  <a:lnTo>
                    <a:pt x="0" y="0"/>
                  </a:lnTo>
                  <a:lnTo>
                    <a:pt x="0" y="12245801"/>
                  </a:lnTo>
                  <a:lnTo>
                    <a:pt x="15067540" y="12245801"/>
                  </a:lnTo>
                  <a:lnTo>
                    <a:pt x="1506754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114425"/>
            <a:ext cx="7288546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PROBLEM DEFINITION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464770" y="3863287"/>
            <a:ext cx="13749064" cy="2344098"/>
            <a:chOff x="0" y="0"/>
            <a:chExt cx="18332085" cy="3125465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12961391" cy="659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64"/>
                </a:lnSpc>
                <a:buFont typeface="Arial"/>
                <a:buChar char="•"/>
              </a:pPr>
              <a:r>
                <a:rPr lang="en-US" sz="2996" spc="32">
                  <a:solidFill>
                    <a:srgbClr val="2E2E2E"/>
                  </a:solidFill>
                  <a:latin typeface="Courier Prime Bold"/>
                </a:rPr>
                <a:t>Lack of Flexibility and Adaptability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204416"/>
              <a:ext cx="14388359" cy="659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64"/>
                </a:lnSpc>
                <a:buFont typeface="Arial"/>
                <a:buChar char="•"/>
              </a:pPr>
              <a:r>
                <a:rPr lang="en-US" sz="2996" spc="32">
                  <a:solidFill>
                    <a:srgbClr val="2E2E2E"/>
                  </a:solidFill>
                  <a:latin typeface="Courier Prime Bold"/>
                </a:rPr>
                <a:t>Challenges in Analyzing Learning Outcomes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2466218"/>
              <a:ext cx="18332085" cy="6592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6915" lvl="1" indent="-323457" algn="l">
                <a:lnSpc>
                  <a:spcPts val="4164"/>
                </a:lnSpc>
                <a:buFont typeface="Arial"/>
                <a:buChar char="•"/>
              </a:pPr>
              <a:r>
                <a:rPr lang="en-US" sz="2996" spc="32">
                  <a:solidFill>
                    <a:srgbClr val="2E2E2E"/>
                  </a:solidFill>
                  <a:latin typeface="Courier Prime Bold"/>
                </a:rPr>
                <a:t>Difficulty in Data Integration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14425"/>
            <a:ext cx="8115300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SYSTEM ARCHITECTURE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121747" y="2021519"/>
            <a:ext cx="10044506" cy="7425214"/>
            <a:chOff x="0" y="0"/>
            <a:chExt cx="13392675" cy="99002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92675" cy="9900286"/>
            </a:xfrm>
            <a:custGeom>
              <a:avLst/>
              <a:gdLst/>
              <a:ahLst/>
              <a:cxnLst/>
              <a:rect l="l" t="t" r="r" b="b"/>
              <a:pathLst>
                <a:path w="13392675" h="9900286">
                  <a:moveTo>
                    <a:pt x="0" y="0"/>
                  </a:moveTo>
                  <a:lnTo>
                    <a:pt x="13392675" y="0"/>
                  </a:lnTo>
                  <a:lnTo>
                    <a:pt x="13392675" y="9900286"/>
                  </a:lnTo>
                  <a:lnTo>
                    <a:pt x="0" y="99002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37" t="-8209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0888257" y="4317347"/>
              <a:ext cx="2434841" cy="795135"/>
            </a:xfrm>
            <a:custGeom>
              <a:avLst/>
              <a:gdLst/>
              <a:ahLst/>
              <a:cxnLst/>
              <a:rect l="l" t="t" r="r" b="b"/>
              <a:pathLst>
                <a:path w="2434841" h="795135">
                  <a:moveTo>
                    <a:pt x="0" y="0"/>
                  </a:moveTo>
                  <a:lnTo>
                    <a:pt x="2434841" y="0"/>
                  </a:lnTo>
                  <a:lnTo>
                    <a:pt x="2434841" y="795134"/>
                  </a:lnTo>
                  <a:lnTo>
                    <a:pt x="0" y="7951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08304" t="-623526" r="-145035" b="-60480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" name="Freeform 6"/>
            <p:cNvSpPr/>
            <p:nvPr/>
          </p:nvSpPr>
          <p:spPr>
            <a:xfrm>
              <a:off x="7157748" y="4214985"/>
              <a:ext cx="2798879" cy="887628"/>
            </a:xfrm>
            <a:custGeom>
              <a:avLst/>
              <a:gdLst/>
              <a:ahLst/>
              <a:cxnLst/>
              <a:rect l="l" t="t" r="r" b="b"/>
              <a:pathLst>
                <a:path w="2798879" h="887628">
                  <a:moveTo>
                    <a:pt x="0" y="0"/>
                  </a:moveTo>
                  <a:lnTo>
                    <a:pt x="2798878" y="0"/>
                  </a:lnTo>
                  <a:lnTo>
                    <a:pt x="2798878" y="887628"/>
                  </a:lnTo>
                  <a:lnTo>
                    <a:pt x="0" y="887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09258" t="-738646" r="-13025" b="-699598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7" name="Freeform 7"/>
          <p:cNvSpPr/>
          <p:nvPr/>
        </p:nvSpPr>
        <p:spPr>
          <a:xfrm rot="3987423" flipH="1">
            <a:off x="13227754" y="7010453"/>
            <a:ext cx="8063091" cy="6553094"/>
          </a:xfrm>
          <a:custGeom>
            <a:avLst/>
            <a:gdLst/>
            <a:ahLst/>
            <a:cxnLst/>
            <a:rect l="l" t="t" r="r" b="b"/>
            <a:pathLst>
              <a:path w="8063091" h="6553094">
                <a:moveTo>
                  <a:pt x="8063092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2" y="6553094"/>
                </a:lnTo>
                <a:lnTo>
                  <a:pt x="8063092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84128" y="-14237883"/>
            <a:ext cx="25565589" cy="29932069"/>
            <a:chOff x="0" y="0"/>
            <a:chExt cx="34087452" cy="39909425"/>
          </a:xfrm>
        </p:grpSpPr>
        <p:sp>
          <p:nvSpPr>
            <p:cNvPr id="3" name="Freeform 3"/>
            <p:cNvSpPr/>
            <p:nvPr/>
          </p:nvSpPr>
          <p:spPr>
            <a:xfrm rot="-1930669">
              <a:off x="4683779" y="4683779"/>
              <a:ext cx="24719895" cy="24719895"/>
            </a:xfrm>
            <a:custGeom>
              <a:avLst/>
              <a:gdLst/>
              <a:ahLst/>
              <a:cxnLst/>
              <a:rect l="l" t="t" r="r" b="b"/>
              <a:pathLst>
                <a:path w="24719895" h="24719895">
                  <a:moveTo>
                    <a:pt x="0" y="0"/>
                  </a:moveTo>
                  <a:lnTo>
                    <a:pt x="24719894" y="0"/>
                  </a:lnTo>
                  <a:lnTo>
                    <a:pt x="24719894" y="24719894"/>
                  </a:lnTo>
                  <a:lnTo>
                    <a:pt x="0" y="24719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5242519" flipH="1">
              <a:off x="13922812" y="29970883"/>
              <a:ext cx="10750788" cy="8737459"/>
            </a:xfrm>
            <a:custGeom>
              <a:avLst/>
              <a:gdLst/>
              <a:ahLst/>
              <a:cxnLst/>
              <a:rect l="l" t="t" r="r" b="b"/>
              <a:pathLst>
                <a:path w="10750788" h="8737459">
                  <a:moveTo>
                    <a:pt x="10750788" y="0"/>
                  </a:moveTo>
                  <a:lnTo>
                    <a:pt x="0" y="0"/>
                  </a:lnTo>
                  <a:lnTo>
                    <a:pt x="0" y="8737458"/>
                  </a:lnTo>
                  <a:lnTo>
                    <a:pt x="10750788" y="8737458"/>
                  </a:lnTo>
                  <a:lnTo>
                    <a:pt x="10750788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522499" y="2163501"/>
            <a:ext cx="5516957" cy="3258173"/>
          </a:xfrm>
          <a:custGeom>
            <a:avLst/>
            <a:gdLst/>
            <a:ahLst/>
            <a:cxnLst/>
            <a:rect l="l" t="t" r="r" b="b"/>
            <a:pathLst>
              <a:path w="5516957" h="3258173">
                <a:moveTo>
                  <a:pt x="0" y="0"/>
                </a:moveTo>
                <a:lnTo>
                  <a:pt x="5516957" y="0"/>
                </a:lnTo>
                <a:lnTo>
                  <a:pt x="5516957" y="3258174"/>
                </a:lnTo>
                <a:lnTo>
                  <a:pt x="0" y="3258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0287204" y="2163501"/>
            <a:ext cx="6480145" cy="4010829"/>
            <a:chOff x="0" y="0"/>
            <a:chExt cx="7942391" cy="49158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942366" cy="4915888"/>
            </a:xfrm>
            <a:custGeom>
              <a:avLst/>
              <a:gdLst/>
              <a:ahLst/>
              <a:cxnLst/>
              <a:rect l="l" t="t" r="r" b="b"/>
              <a:pathLst>
                <a:path w="7942366" h="4915888">
                  <a:moveTo>
                    <a:pt x="0" y="0"/>
                  </a:moveTo>
                  <a:lnTo>
                    <a:pt x="7942366" y="0"/>
                  </a:lnTo>
                  <a:lnTo>
                    <a:pt x="7942366" y="4915888"/>
                  </a:lnTo>
                  <a:lnTo>
                    <a:pt x="0" y="4915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3760" b="-3759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438537" y="2163501"/>
            <a:ext cx="2258001" cy="3685779"/>
            <a:chOff x="0" y="0"/>
            <a:chExt cx="3045961" cy="497198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5916" cy="4971923"/>
            </a:xfrm>
            <a:custGeom>
              <a:avLst/>
              <a:gdLst/>
              <a:ahLst/>
              <a:cxnLst/>
              <a:rect l="l" t="t" r="r" b="b"/>
              <a:pathLst>
                <a:path w="3045916" h="4971923">
                  <a:moveTo>
                    <a:pt x="0" y="0"/>
                  </a:moveTo>
                  <a:lnTo>
                    <a:pt x="3045916" y="0"/>
                  </a:lnTo>
                  <a:lnTo>
                    <a:pt x="3045916" y="4971923"/>
                  </a:lnTo>
                  <a:lnTo>
                    <a:pt x="0" y="4971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32085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520651" y="5622306"/>
            <a:ext cx="5516957" cy="4022269"/>
            <a:chOff x="0" y="0"/>
            <a:chExt cx="6898157" cy="502926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98150" cy="5029327"/>
            </a:xfrm>
            <a:custGeom>
              <a:avLst/>
              <a:gdLst/>
              <a:ahLst/>
              <a:cxnLst/>
              <a:rect l="l" t="t" r="r" b="b"/>
              <a:pathLst>
                <a:path w="6898150" h="5029327">
                  <a:moveTo>
                    <a:pt x="0" y="0"/>
                  </a:moveTo>
                  <a:lnTo>
                    <a:pt x="6898150" y="0"/>
                  </a:lnTo>
                  <a:lnTo>
                    <a:pt x="6898150" y="5029327"/>
                  </a:lnTo>
                  <a:lnTo>
                    <a:pt x="0" y="5029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235" b="-5234"/>
              </a:stretch>
            </a:blipFill>
            <a:ln w="9525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12" name="Freeform 12"/>
          <p:cNvSpPr/>
          <p:nvPr/>
        </p:nvSpPr>
        <p:spPr>
          <a:xfrm>
            <a:off x="7274206" y="6374961"/>
            <a:ext cx="9493143" cy="3187786"/>
          </a:xfrm>
          <a:custGeom>
            <a:avLst/>
            <a:gdLst/>
            <a:ahLst/>
            <a:cxnLst/>
            <a:rect l="l" t="t" r="r" b="b"/>
            <a:pathLst>
              <a:path w="9493143" h="3187786">
                <a:moveTo>
                  <a:pt x="0" y="0"/>
                </a:moveTo>
                <a:lnTo>
                  <a:pt x="9493143" y="0"/>
                </a:lnTo>
                <a:lnTo>
                  <a:pt x="9493143" y="3187786"/>
                </a:lnTo>
                <a:lnTo>
                  <a:pt x="0" y="3187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028700" y="1114425"/>
            <a:ext cx="2291873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84128" y="-14237883"/>
            <a:ext cx="25565589" cy="29932069"/>
            <a:chOff x="0" y="0"/>
            <a:chExt cx="34087452" cy="39909425"/>
          </a:xfrm>
        </p:grpSpPr>
        <p:sp>
          <p:nvSpPr>
            <p:cNvPr id="3" name="Freeform 3"/>
            <p:cNvSpPr/>
            <p:nvPr/>
          </p:nvSpPr>
          <p:spPr>
            <a:xfrm rot="-1930669">
              <a:off x="4683779" y="4683779"/>
              <a:ext cx="24719895" cy="24719895"/>
            </a:xfrm>
            <a:custGeom>
              <a:avLst/>
              <a:gdLst/>
              <a:ahLst/>
              <a:cxnLst/>
              <a:rect l="l" t="t" r="r" b="b"/>
              <a:pathLst>
                <a:path w="24719895" h="24719895">
                  <a:moveTo>
                    <a:pt x="0" y="0"/>
                  </a:moveTo>
                  <a:lnTo>
                    <a:pt x="24719894" y="0"/>
                  </a:lnTo>
                  <a:lnTo>
                    <a:pt x="24719894" y="24719894"/>
                  </a:lnTo>
                  <a:lnTo>
                    <a:pt x="0" y="24719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5242519" flipH="1">
              <a:off x="13922812" y="29970883"/>
              <a:ext cx="10750788" cy="8737459"/>
            </a:xfrm>
            <a:custGeom>
              <a:avLst/>
              <a:gdLst/>
              <a:ahLst/>
              <a:cxnLst/>
              <a:rect l="l" t="t" r="r" b="b"/>
              <a:pathLst>
                <a:path w="10750788" h="8737459">
                  <a:moveTo>
                    <a:pt x="10750788" y="0"/>
                  </a:moveTo>
                  <a:lnTo>
                    <a:pt x="0" y="0"/>
                  </a:lnTo>
                  <a:lnTo>
                    <a:pt x="0" y="8737458"/>
                  </a:lnTo>
                  <a:lnTo>
                    <a:pt x="10750788" y="8737458"/>
                  </a:lnTo>
                  <a:lnTo>
                    <a:pt x="10750788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3058772" y="2004550"/>
            <a:ext cx="4437924" cy="4975345"/>
          </a:xfrm>
          <a:custGeom>
            <a:avLst/>
            <a:gdLst/>
            <a:ahLst/>
            <a:cxnLst/>
            <a:rect l="l" t="t" r="r" b="b"/>
            <a:pathLst>
              <a:path w="4437924" h="4975345">
                <a:moveTo>
                  <a:pt x="0" y="0"/>
                </a:moveTo>
                <a:lnTo>
                  <a:pt x="4437924" y="0"/>
                </a:lnTo>
                <a:lnTo>
                  <a:pt x="4437924" y="4975345"/>
                </a:lnTo>
                <a:lnTo>
                  <a:pt x="0" y="497534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6345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7598431" y="3049774"/>
            <a:ext cx="5136491" cy="3930121"/>
          </a:xfrm>
          <a:custGeom>
            <a:avLst/>
            <a:gdLst/>
            <a:ahLst/>
            <a:cxnLst/>
            <a:rect l="l" t="t" r="r" b="b"/>
            <a:pathLst>
              <a:path w="5136491" h="3930121">
                <a:moveTo>
                  <a:pt x="0" y="0"/>
                </a:moveTo>
                <a:lnTo>
                  <a:pt x="5136491" y="0"/>
                </a:lnTo>
                <a:lnTo>
                  <a:pt x="5136491" y="3930121"/>
                </a:lnTo>
                <a:lnTo>
                  <a:pt x="0" y="39301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176" r="-6696" b="-6877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801137" y="3049774"/>
            <a:ext cx="6475712" cy="3966934"/>
          </a:xfrm>
          <a:custGeom>
            <a:avLst/>
            <a:gdLst/>
            <a:ahLst/>
            <a:cxnLst/>
            <a:rect l="l" t="t" r="r" b="b"/>
            <a:pathLst>
              <a:path w="6475712" h="3966934">
                <a:moveTo>
                  <a:pt x="0" y="0"/>
                </a:moveTo>
                <a:lnTo>
                  <a:pt x="6475712" y="0"/>
                </a:lnTo>
                <a:lnTo>
                  <a:pt x="6475712" y="3966934"/>
                </a:lnTo>
                <a:lnTo>
                  <a:pt x="0" y="39669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8292" r="-19376" b="-4564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1028700" y="1114425"/>
            <a:ext cx="2291873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484128" y="-14237883"/>
            <a:ext cx="25565589" cy="29932069"/>
            <a:chOff x="0" y="0"/>
            <a:chExt cx="34087452" cy="39909425"/>
          </a:xfrm>
        </p:grpSpPr>
        <p:sp>
          <p:nvSpPr>
            <p:cNvPr id="3" name="Freeform 3"/>
            <p:cNvSpPr/>
            <p:nvPr/>
          </p:nvSpPr>
          <p:spPr>
            <a:xfrm rot="-1930669">
              <a:off x="4683779" y="4683779"/>
              <a:ext cx="24719895" cy="24719895"/>
            </a:xfrm>
            <a:custGeom>
              <a:avLst/>
              <a:gdLst/>
              <a:ahLst/>
              <a:cxnLst/>
              <a:rect l="l" t="t" r="r" b="b"/>
              <a:pathLst>
                <a:path w="24719895" h="24719895">
                  <a:moveTo>
                    <a:pt x="0" y="0"/>
                  </a:moveTo>
                  <a:lnTo>
                    <a:pt x="24719894" y="0"/>
                  </a:lnTo>
                  <a:lnTo>
                    <a:pt x="24719894" y="24719894"/>
                  </a:lnTo>
                  <a:lnTo>
                    <a:pt x="0" y="24719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5242519" flipH="1">
              <a:off x="13922812" y="29970883"/>
              <a:ext cx="10750788" cy="8737459"/>
            </a:xfrm>
            <a:custGeom>
              <a:avLst/>
              <a:gdLst/>
              <a:ahLst/>
              <a:cxnLst/>
              <a:rect l="l" t="t" r="r" b="b"/>
              <a:pathLst>
                <a:path w="10750788" h="8737459">
                  <a:moveTo>
                    <a:pt x="10750788" y="0"/>
                  </a:moveTo>
                  <a:lnTo>
                    <a:pt x="0" y="0"/>
                  </a:lnTo>
                  <a:lnTo>
                    <a:pt x="0" y="8737458"/>
                  </a:lnTo>
                  <a:lnTo>
                    <a:pt x="10750788" y="8737458"/>
                  </a:lnTo>
                  <a:lnTo>
                    <a:pt x="10750788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028700" y="1114425"/>
            <a:ext cx="3527216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69468" y="3607941"/>
            <a:ext cx="13749064" cy="2604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64"/>
              </a:lnSpc>
            </a:pPr>
            <a:r>
              <a:rPr lang="en-US" sz="2996" spc="32">
                <a:solidFill>
                  <a:srgbClr val="2E2E2E"/>
                </a:solidFill>
                <a:latin typeface="Courier Prime Bold"/>
              </a:rPr>
              <a:t>The enhanced college attainment calculator has the potential to significantly improve the accuracy and efficiency of assessing learning outcomes, ultimately leading to better educational experiences and outcomes for students.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34315" y="-5617130"/>
            <a:ext cx="33162706" cy="23154241"/>
            <a:chOff x="0" y="0"/>
            <a:chExt cx="44216942" cy="30872321"/>
          </a:xfrm>
        </p:grpSpPr>
        <p:sp>
          <p:nvSpPr>
            <p:cNvPr id="3" name="Freeform 3"/>
            <p:cNvSpPr/>
            <p:nvPr/>
          </p:nvSpPr>
          <p:spPr>
            <a:xfrm rot="6144593">
              <a:off x="18477017" y="4809694"/>
              <a:ext cx="23490271" cy="23490271"/>
            </a:xfrm>
            <a:custGeom>
              <a:avLst/>
              <a:gdLst/>
              <a:ahLst/>
              <a:cxnLst/>
              <a:rect l="l" t="t" r="r" b="b"/>
              <a:pathLst>
                <a:path w="23490271" h="23490271">
                  <a:moveTo>
                    <a:pt x="0" y="0"/>
                  </a:moveTo>
                  <a:lnTo>
                    <a:pt x="23490272" y="0"/>
                  </a:lnTo>
                  <a:lnTo>
                    <a:pt x="23490272" y="23490271"/>
                  </a:lnTo>
                  <a:lnTo>
                    <a:pt x="0" y="23490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4662819">
              <a:off x="19098746" y="3701316"/>
              <a:ext cx="17059931" cy="11771512"/>
            </a:xfrm>
            <a:custGeom>
              <a:avLst/>
              <a:gdLst/>
              <a:ahLst/>
              <a:cxnLst/>
              <a:rect l="l" t="t" r="r" b="b"/>
              <a:pathLst>
                <a:path w="17059931" h="11771512">
                  <a:moveTo>
                    <a:pt x="0" y="0"/>
                  </a:moveTo>
                  <a:lnTo>
                    <a:pt x="17059931" y="0"/>
                  </a:lnTo>
                  <a:lnTo>
                    <a:pt x="17059931" y="11771511"/>
                  </a:lnTo>
                  <a:lnTo>
                    <a:pt x="0" y="11771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8905814" flipH="1">
              <a:off x="2090588" y="15588487"/>
              <a:ext cx="15067540" cy="12245801"/>
            </a:xfrm>
            <a:custGeom>
              <a:avLst/>
              <a:gdLst/>
              <a:ahLst/>
              <a:cxnLst/>
              <a:rect l="l" t="t" r="r" b="b"/>
              <a:pathLst>
                <a:path w="15067540" h="12245801">
                  <a:moveTo>
                    <a:pt x="15067540" y="0"/>
                  </a:moveTo>
                  <a:lnTo>
                    <a:pt x="0" y="0"/>
                  </a:lnTo>
                  <a:lnTo>
                    <a:pt x="0" y="12245801"/>
                  </a:lnTo>
                  <a:lnTo>
                    <a:pt x="15067540" y="12245801"/>
                  </a:lnTo>
                  <a:lnTo>
                    <a:pt x="15067540" y="0"/>
                  </a:lnTo>
                  <a:close/>
                </a:path>
              </a:pathLst>
            </a:custGeom>
            <a:blipFill>
              <a:blip r:embed="rId6">
                <a:alphaModFix amt="50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028700" y="1114425"/>
            <a:ext cx="3527216" cy="66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000">
                <a:solidFill>
                  <a:srgbClr val="004AAD"/>
                </a:solidFill>
                <a:latin typeface="Oswald Bold"/>
              </a:rPr>
              <a:t>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0504" y="2676800"/>
            <a:ext cx="14466992" cy="47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5401"/>
              </a:lnSpc>
              <a:buFont typeface="Arial"/>
              <a:buChar char="•"/>
            </a:pPr>
            <a:r>
              <a:rPr lang="en-US" sz="3000" spc="-60" dirty="0">
                <a:solidFill>
                  <a:srgbClr val="000000"/>
                </a:solidFill>
                <a:latin typeface="Courier Prime Bold"/>
              </a:rPr>
              <a:t>Akash </a:t>
            </a:r>
            <a:r>
              <a:rPr lang="en-US" sz="3000" spc="-60" dirty="0" err="1">
                <a:solidFill>
                  <a:srgbClr val="000000"/>
                </a:solidFill>
                <a:latin typeface="Courier Prime Bold"/>
              </a:rPr>
              <a:t>Rajak</a:t>
            </a:r>
            <a:r>
              <a:rPr lang="en-US" sz="3000" spc="-60" dirty="0">
                <a:solidFill>
                  <a:srgbClr val="000000"/>
                </a:solidFill>
                <a:latin typeface="Courier Prime Bold"/>
              </a:rPr>
              <a:t>, Ajay Kumar Shrivastava, Divya Prakash Shrivastava, "Automating Outcome Based Education for the Attainment of Course and Program Outcomes,” IEEE</a:t>
            </a:r>
            <a:r>
              <a:rPr lang="en-US" sz="3000" spc="-60">
                <a:solidFill>
                  <a:srgbClr val="000000"/>
                </a:solidFill>
                <a:latin typeface="Courier Prime Bold"/>
              </a:rPr>
              <a:t>, 2022.</a:t>
            </a:r>
            <a:endParaRPr lang="en-US" sz="3000" spc="-60" dirty="0">
              <a:solidFill>
                <a:srgbClr val="000000"/>
              </a:solidFill>
              <a:latin typeface="Courier Prime Bold"/>
            </a:endParaRPr>
          </a:p>
          <a:p>
            <a:pPr algn="just">
              <a:lnSpc>
                <a:spcPts val="5401"/>
              </a:lnSpc>
            </a:pPr>
            <a:endParaRPr lang="en-US" sz="3000" spc="-60" dirty="0">
              <a:solidFill>
                <a:srgbClr val="000000"/>
              </a:solidFill>
              <a:latin typeface="Courier Prime Bold"/>
            </a:endParaRPr>
          </a:p>
          <a:p>
            <a:pPr marL="647700" lvl="1" indent="-323850" algn="just">
              <a:lnSpc>
                <a:spcPts val="5401"/>
              </a:lnSpc>
              <a:buFont typeface="Arial"/>
              <a:buChar char="•"/>
            </a:pPr>
            <a:r>
              <a:rPr lang="en-US" sz="3000" spc="-60" dirty="0" err="1">
                <a:solidFill>
                  <a:srgbClr val="000000"/>
                </a:solidFill>
                <a:latin typeface="Courier Prime Bold"/>
              </a:rPr>
              <a:t>Mousami</a:t>
            </a:r>
            <a:r>
              <a:rPr lang="en-US" sz="3000" spc="-60" dirty="0">
                <a:solidFill>
                  <a:srgbClr val="000000"/>
                </a:solidFill>
                <a:latin typeface="Courier Prime Bold"/>
              </a:rPr>
              <a:t> </a:t>
            </a:r>
            <a:r>
              <a:rPr lang="en-US" sz="3000" spc="-60" dirty="0" err="1">
                <a:solidFill>
                  <a:srgbClr val="000000"/>
                </a:solidFill>
                <a:latin typeface="Courier Prime Bold"/>
              </a:rPr>
              <a:t>Vanjale</a:t>
            </a:r>
            <a:r>
              <a:rPr lang="en-US" sz="3000" spc="-60" dirty="0">
                <a:solidFill>
                  <a:srgbClr val="000000"/>
                </a:solidFill>
                <a:latin typeface="Courier Prime Bold"/>
              </a:rPr>
              <a:t>, Member, IEEE, Sachin </a:t>
            </a:r>
            <a:r>
              <a:rPr lang="en-US" sz="3000" spc="-60" dirty="0" err="1">
                <a:solidFill>
                  <a:srgbClr val="000000"/>
                </a:solidFill>
                <a:latin typeface="Courier Prime Bold"/>
              </a:rPr>
              <a:t>Shelar</a:t>
            </a:r>
            <a:r>
              <a:rPr lang="en-US" sz="3000" spc="-60" dirty="0">
                <a:solidFill>
                  <a:srgbClr val="000000"/>
                </a:solidFill>
                <a:latin typeface="Courier Prime Bold"/>
              </a:rPr>
              <a:t>, Member, IEEE, Dr. P. B. Mane, "Assessment of Course Outcomes (COs) in University Affiliated Engineering Programs," IEEE, 2023.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1439" y="3508224"/>
            <a:ext cx="4490854" cy="4269959"/>
            <a:chOff x="0" y="0"/>
            <a:chExt cx="1293983" cy="12303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045805" y="5155088"/>
            <a:ext cx="7059396" cy="6855782"/>
            <a:chOff x="0" y="0"/>
            <a:chExt cx="1027471" cy="99783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7471" cy="997836"/>
            </a:xfrm>
            <a:custGeom>
              <a:avLst/>
              <a:gdLst/>
              <a:ahLst/>
              <a:cxnLst/>
              <a:rect l="l" t="t" r="r" b="b"/>
              <a:pathLst>
                <a:path w="1027471" h="997836">
                  <a:moveTo>
                    <a:pt x="513735" y="0"/>
                  </a:moveTo>
                  <a:cubicBezTo>
                    <a:pt x="230007" y="0"/>
                    <a:pt x="0" y="223373"/>
                    <a:pt x="0" y="498918"/>
                  </a:cubicBezTo>
                  <a:cubicBezTo>
                    <a:pt x="0" y="774463"/>
                    <a:pt x="230007" y="997836"/>
                    <a:pt x="513735" y="997836"/>
                  </a:cubicBezTo>
                  <a:cubicBezTo>
                    <a:pt x="797464" y="997836"/>
                    <a:pt x="1027471" y="774463"/>
                    <a:pt x="1027471" y="498918"/>
                  </a:cubicBezTo>
                  <a:cubicBezTo>
                    <a:pt x="1027471" y="223373"/>
                    <a:pt x="797464" y="0"/>
                    <a:pt x="513735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96325" y="55447"/>
              <a:ext cx="834820" cy="848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65228" y="-2520515"/>
            <a:ext cx="6474828" cy="5159833"/>
            <a:chOff x="0" y="0"/>
            <a:chExt cx="1019944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19944" cy="812800"/>
            </a:xfrm>
            <a:custGeom>
              <a:avLst/>
              <a:gdLst/>
              <a:ahLst/>
              <a:cxnLst/>
              <a:rect l="l" t="t" r="r" b="b"/>
              <a:pathLst>
                <a:path w="1019944" h="812800">
                  <a:moveTo>
                    <a:pt x="509972" y="0"/>
                  </a:moveTo>
                  <a:cubicBezTo>
                    <a:pt x="228322" y="0"/>
                    <a:pt x="0" y="181951"/>
                    <a:pt x="0" y="406400"/>
                  </a:cubicBezTo>
                  <a:cubicBezTo>
                    <a:pt x="0" y="630849"/>
                    <a:pt x="228322" y="812800"/>
                    <a:pt x="509972" y="812800"/>
                  </a:cubicBezTo>
                  <a:cubicBezTo>
                    <a:pt x="791622" y="812800"/>
                    <a:pt x="1019944" y="630849"/>
                    <a:pt x="1019944" y="406400"/>
                  </a:cubicBezTo>
                  <a:cubicBezTo>
                    <a:pt x="1019944" y="181951"/>
                    <a:pt x="791622" y="0"/>
                    <a:pt x="509972" y="0"/>
                  </a:cubicBezTo>
                  <a:close/>
                </a:path>
              </a:pathLst>
            </a:custGeom>
            <a:solidFill>
              <a:srgbClr val="124A8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95620" y="38100"/>
              <a:ext cx="828704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1464888" y="721441"/>
            <a:ext cx="7393008" cy="7393008"/>
          </a:xfrm>
          <a:custGeom>
            <a:avLst/>
            <a:gdLst/>
            <a:ahLst/>
            <a:cxnLst/>
            <a:rect l="l" t="t" r="r" b="b"/>
            <a:pathLst>
              <a:path w="7393008" h="7393008">
                <a:moveTo>
                  <a:pt x="0" y="0"/>
                </a:moveTo>
                <a:lnTo>
                  <a:pt x="7393008" y="0"/>
                </a:lnTo>
                <a:lnTo>
                  <a:pt x="7393008" y="7393007"/>
                </a:lnTo>
                <a:lnTo>
                  <a:pt x="0" y="7393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5400000">
            <a:off x="-2363019" y="2973567"/>
            <a:ext cx="5966049" cy="2983024"/>
          </a:xfrm>
          <a:custGeom>
            <a:avLst/>
            <a:gdLst/>
            <a:ahLst/>
            <a:cxnLst/>
            <a:rect l="l" t="t" r="r" b="b"/>
            <a:pathLst>
              <a:path w="5966049" h="2983024">
                <a:moveTo>
                  <a:pt x="0" y="0"/>
                </a:moveTo>
                <a:lnTo>
                  <a:pt x="5966049" y="0"/>
                </a:lnTo>
                <a:lnTo>
                  <a:pt x="5966049" y="2983025"/>
                </a:lnTo>
                <a:lnTo>
                  <a:pt x="0" y="2983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400000">
            <a:off x="684294" y="2904792"/>
            <a:ext cx="5978041" cy="3108581"/>
          </a:xfrm>
          <a:custGeom>
            <a:avLst/>
            <a:gdLst/>
            <a:ahLst/>
            <a:cxnLst/>
            <a:rect l="l" t="t" r="r" b="b"/>
            <a:pathLst>
              <a:path w="5978041" h="3108581">
                <a:moveTo>
                  <a:pt x="0" y="0"/>
                </a:moveTo>
                <a:lnTo>
                  <a:pt x="5978041" y="0"/>
                </a:lnTo>
                <a:lnTo>
                  <a:pt x="5978041" y="3108582"/>
                </a:lnTo>
                <a:lnTo>
                  <a:pt x="0" y="3108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874377" y="3060549"/>
            <a:ext cx="12568884" cy="2801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703"/>
              </a:lnSpc>
              <a:spcBef>
                <a:spcPct val="0"/>
              </a:spcBef>
            </a:pPr>
            <a:r>
              <a:rPr lang="en-US" sz="15502">
                <a:solidFill>
                  <a:srgbClr val="0063C8"/>
                </a:solidFill>
                <a:latin typeface="Poppins Ultra-Bold"/>
              </a:rPr>
              <a:t>Thank You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3152804" y="9663608"/>
            <a:ext cx="1721573" cy="1636893"/>
            <a:chOff x="0" y="0"/>
            <a:chExt cx="1293983" cy="123033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3983" cy="1230335"/>
            </a:xfrm>
            <a:custGeom>
              <a:avLst/>
              <a:gdLst/>
              <a:ahLst/>
              <a:cxnLst/>
              <a:rect l="l" t="t" r="r" b="b"/>
              <a:pathLst>
                <a:path w="1293983" h="1230335">
                  <a:moveTo>
                    <a:pt x="646992" y="0"/>
                  </a:moveTo>
                  <a:cubicBezTo>
                    <a:pt x="289668" y="0"/>
                    <a:pt x="0" y="275420"/>
                    <a:pt x="0" y="615167"/>
                  </a:cubicBezTo>
                  <a:cubicBezTo>
                    <a:pt x="0" y="954915"/>
                    <a:pt x="289668" y="1230335"/>
                    <a:pt x="646992" y="1230335"/>
                  </a:cubicBezTo>
                  <a:cubicBezTo>
                    <a:pt x="1004315" y="1230335"/>
                    <a:pt x="1293983" y="954915"/>
                    <a:pt x="1293983" y="615167"/>
                  </a:cubicBezTo>
                  <a:cubicBezTo>
                    <a:pt x="1293983" y="275420"/>
                    <a:pt x="1004315" y="0"/>
                    <a:pt x="646992" y="0"/>
                  </a:cubicBezTo>
                  <a:close/>
                </a:path>
              </a:pathLst>
            </a:custGeom>
            <a:solidFill>
              <a:srgbClr val="0063C8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1311" y="77244"/>
              <a:ext cx="1051361" cy="1037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285</Words>
  <Application>Microsoft Office PowerPoint</Application>
  <PresentationFormat>Custom</PresentationFormat>
  <Paragraphs>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Oswald Bold</vt:lpstr>
      <vt:lpstr>Courier Prime Bold</vt:lpstr>
      <vt:lpstr>Poppins Ultra-Bold</vt:lpstr>
      <vt:lpstr>Times New Roman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Attainment calculation software (2) (1).pptx</dc:title>
  <cp:lastModifiedBy>Dikshita Parbalkar</cp:lastModifiedBy>
  <cp:revision>3</cp:revision>
  <dcterms:created xsi:type="dcterms:W3CDTF">2006-08-16T00:00:00Z</dcterms:created>
  <dcterms:modified xsi:type="dcterms:W3CDTF">2024-06-14T05:10:06Z</dcterms:modified>
  <dc:identifier>DAF84cZ8Wms</dc:identifier>
</cp:coreProperties>
</file>